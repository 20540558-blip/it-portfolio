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78" r:id="rId10"/>
    <p:sldId id="264" r:id="rId11"/>
    <p:sldId id="267" r:id="rId12"/>
    <p:sldId id="268" r:id="rId13"/>
    <p:sldId id="279" r:id="rId14"/>
    <p:sldId id="270" r:id="rId15"/>
    <p:sldId id="27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>
        <p:scale>
          <a:sx n="100" d="100"/>
          <a:sy n="100" d="100"/>
        </p:scale>
        <p:origin x="708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D85D9DE-EC82-40DC-9C48-B1298256976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5A31CFF-58AD-4175-8BB9-1423F90F94B4}">
      <dgm:prSet/>
      <dgm:spPr/>
      <dgm:t>
        <a:bodyPr/>
        <a:lstStyle/>
        <a:p>
          <a:r>
            <a:rPr lang="en-US" b="1"/>
            <a:t>What makes these operating systems different than the ones you have experienced?</a:t>
          </a:r>
          <a:endParaRPr lang="en-US"/>
        </a:p>
      </dgm:t>
    </dgm:pt>
    <dgm:pt modelId="{57E98BE9-3D0A-43E2-9E90-A1929579F9B1}" type="parTrans" cxnId="{9C24B3B7-120A-4458-8C31-1CCB4A9DA59A}">
      <dgm:prSet/>
      <dgm:spPr/>
      <dgm:t>
        <a:bodyPr/>
        <a:lstStyle/>
        <a:p>
          <a:endParaRPr lang="en-US"/>
        </a:p>
      </dgm:t>
    </dgm:pt>
    <dgm:pt modelId="{75787699-E27A-4554-97DC-9EB7C9BA6178}" type="sibTrans" cxnId="{9C24B3B7-120A-4458-8C31-1CCB4A9DA59A}">
      <dgm:prSet/>
      <dgm:spPr/>
      <dgm:t>
        <a:bodyPr/>
        <a:lstStyle/>
        <a:p>
          <a:endParaRPr lang="en-US"/>
        </a:p>
      </dgm:t>
    </dgm:pt>
    <dgm:pt modelId="{30241F06-D2E0-49F9-B684-09A1F55A3C8F}">
      <dgm:prSet/>
      <dgm:spPr/>
      <dgm:t>
        <a:bodyPr/>
        <a:lstStyle/>
        <a:p>
          <a:r>
            <a:rPr lang="en-US" b="1" dirty="0"/>
            <a:t>What devices would you expect to see these software on?</a:t>
          </a:r>
          <a:endParaRPr lang="en-US" dirty="0"/>
        </a:p>
      </dgm:t>
    </dgm:pt>
    <dgm:pt modelId="{E31DEEA7-BD9C-485D-8FFB-19AE611F9DD2}" type="parTrans" cxnId="{00BC9CF9-1FD3-4677-A8C1-07FE9E487E3E}">
      <dgm:prSet/>
      <dgm:spPr/>
      <dgm:t>
        <a:bodyPr/>
        <a:lstStyle/>
        <a:p>
          <a:endParaRPr lang="en-US"/>
        </a:p>
      </dgm:t>
    </dgm:pt>
    <dgm:pt modelId="{C3B05FA6-3A5E-4C00-A552-10BE31185941}" type="sibTrans" cxnId="{00BC9CF9-1FD3-4677-A8C1-07FE9E487E3E}">
      <dgm:prSet/>
      <dgm:spPr/>
      <dgm:t>
        <a:bodyPr/>
        <a:lstStyle/>
        <a:p>
          <a:endParaRPr lang="en-US"/>
        </a:p>
      </dgm:t>
    </dgm:pt>
    <dgm:pt modelId="{1DFE48AA-201A-48D6-87F9-A3596A7E1A01}">
      <dgm:prSet/>
      <dgm:spPr/>
      <dgm:t>
        <a:bodyPr/>
        <a:lstStyle/>
        <a:p>
          <a:r>
            <a:rPr lang="en-US" b="1"/>
            <a:t>Linux is a family of open-source operating systems and forms the kernel for other operating systems such as Android as well as controlling web servers. It is also used as an OS for embedded devices.</a:t>
          </a:r>
          <a:endParaRPr lang="en-US"/>
        </a:p>
      </dgm:t>
    </dgm:pt>
    <dgm:pt modelId="{53FEF7C8-94E4-4DBB-BFF1-2C0F71E0EA15}" type="parTrans" cxnId="{7A2549BD-451B-4708-BEA9-EE17ADCFFCF3}">
      <dgm:prSet/>
      <dgm:spPr/>
      <dgm:t>
        <a:bodyPr/>
        <a:lstStyle/>
        <a:p>
          <a:endParaRPr lang="en-US"/>
        </a:p>
      </dgm:t>
    </dgm:pt>
    <dgm:pt modelId="{DF3F10C0-4884-4AEA-BB15-303842232A16}" type="sibTrans" cxnId="{7A2549BD-451B-4708-BEA9-EE17ADCFFCF3}">
      <dgm:prSet/>
      <dgm:spPr/>
      <dgm:t>
        <a:bodyPr/>
        <a:lstStyle/>
        <a:p>
          <a:endParaRPr lang="en-US"/>
        </a:p>
      </dgm:t>
    </dgm:pt>
    <dgm:pt modelId="{07334522-433F-4404-B791-6D10FB394D3B}">
      <dgm:prSet/>
      <dgm:spPr/>
      <dgm:t>
        <a:bodyPr/>
        <a:lstStyle/>
        <a:p>
          <a:r>
            <a:rPr lang="en-US" b="1" dirty="0"/>
            <a:t>Ubuntu is also mostly free and open-source software and is developed for individual computers, network servers in data </a:t>
          </a:r>
          <a:r>
            <a:rPr lang="en-US" b="1" dirty="0" err="1"/>
            <a:t>centres</a:t>
          </a:r>
          <a:r>
            <a:rPr lang="en-US" b="1" dirty="0"/>
            <a:t> and smart devices as well as robotics.</a:t>
          </a:r>
          <a:endParaRPr lang="en-US" dirty="0"/>
        </a:p>
      </dgm:t>
    </dgm:pt>
    <dgm:pt modelId="{24FCC122-8B96-400D-954E-0E2FF2493AF8}" type="parTrans" cxnId="{54A29DC0-5F63-4A12-BB54-BE79416FAA18}">
      <dgm:prSet/>
      <dgm:spPr/>
      <dgm:t>
        <a:bodyPr/>
        <a:lstStyle/>
        <a:p>
          <a:endParaRPr lang="en-US"/>
        </a:p>
      </dgm:t>
    </dgm:pt>
    <dgm:pt modelId="{268BF30F-0E94-419C-863F-7CAC975DDED9}" type="sibTrans" cxnId="{54A29DC0-5F63-4A12-BB54-BE79416FAA18}">
      <dgm:prSet/>
      <dgm:spPr/>
      <dgm:t>
        <a:bodyPr/>
        <a:lstStyle/>
        <a:p>
          <a:endParaRPr lang="en-US"/>
        </a:p>
      </dgm:t>
    </dgm:pt>
    <dgm:pt modelId="{7F1BCF8C-0D01-4896-A8CB-5CC9037FBE9F}" type="pres">
      <dgm:prSet presAssocID="{1D85D9DE-EC82-40DC-9C48-B12982569767}" presName="linear" presStyleCnt="0">
        <dgm:presLayoutVars>
          <dgm:animLvl val="lvl"/>
          <dgm:resizeHandles val="exact"/>
        </dgm:presLayoutVars>
      </dgm:prSet>
      <dgm:spPr/>
    </dgm:pt>
    <dgm:pt modelId="{E196B222-5A69-455B-A1DB-07F40648BE11}" type="pres">
      <dgm:prSet presAssocID="{55A31CFF-58AD-4175-8BB9-1423F90F94B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D6CA463-D3AC-4A4C-A044-BAA901B666CF}" type="pres">
      <dgm:prSet presAssocID="{75787699-E27A-4554-97DC-9EB7C9BA6178}" presName="spacer" presStyleCnt="0"/>
      <dgm:spPr/>
    </dgm:pt>
    <dgm:pt modelId="{1BA413B8-1AC0-47D5-9206-AC7C6EAB4736}" type="pres">
      <dgm:prSet presAssocID="{30241F06-D2E0-49F9-B684-09A1F55A3C8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17B83A7-156D-4F11-A6BB-D0BCA95A81C9}" type="pres">
      <dgm:prSet presAssocID="{C3B05FA6-3A5E-4C00-A552-10BE31185941}" presName="spacer" presStyleCnt="0"/>
      <dgm:spPr/>
    </dgm:pt>
    <dgm:pt modelId="{17EB41D8-870B-4826-9F1F-4FE7DE93AC9A}" type="pres">
      <dgm:prSet presAssocID="{1DFE48AA-201A-48D6-87F9-A3596A7E1A0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CC0738B-2F6C-4440-909B-1C62C67758EC}" type="pres">
      <dgm:prSet presAssocID="{DF3F10C0-4884-4AEA-BB15-303842232A16}" presName="spacer" presStyleCnt="0"/>
      <dgm:spPr/>
    </dgm:pt>
    <dgm:pt modelId="{C4AC80C2-F435-419B-8688-FBE738B4D762}" type="pres">
      <dgm:prSet presAssocID="{07334522-433F-4404-B791-6D10FB394D3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0F1F91A-668E-4E6A-AFE2-D0CE6EB83C91}" type="presOf" srcId="{07334522-433F-4404-B791-6D10FB394D3B}" destId="{C4AC80C2-F435-419B-8688-FBE738B4D762}" srcOrd="0" destOrd="0" presId="urn:microsoft.com/office/officeart/2005/8/layout/vList2"/>
    <dgm:cxn modelId="{964FE578-EFD6-4BB1-8D20-DEBDA320D88F}" type="presOf" srcId="{1DFE48AA-201A-48D6-87F9-A3596A7E1A01}" destId="{17EB41D8-870B-4826-9F1F-4FE7DE93AC9A}" srcOrd="0" destOrd="0" presId="urn:microsoft.com/office/officeart/2005/8/layout/vList2"/>
    <dgm:cxn modelId="{EFC3098C-EA05-4B6D-ADB3-B65200E5EAA5}" type="presOf" srcId="{55A31CFF-58AD-4175-8BB9-1423F90F94B4}" destId="{E196B222-5A69-455B-A1DB-07F40648BE11}" srcOrd="0" destOrd="0" presId="urn:microsoft.com/office/officeart/2005/8/layout/vList2"/>
    <dgm:cxn modelId="{9C24B3B7-120A-4458-8C31-1CCB4A9DA59A}" srcId="{1D85D9DE-EC82-40DC-9C48-B12982569767}" destId="{55A31CFF-58AD-4175-8BB9-1423F90F94B4}" srcOrd="0" destOrd="0" parTransId="{57E98BE9-3D0A-43E2-9E90-A1929579F9B1}" sibTransId="{75787699-E27A-4554-97DC-9EB7C9BA6178}"/>
    <dgm:cxn modelId="{7A2549BD-451B-4708-BEA9-EE17ADCFFCF3}" srcId="{1D85D9DE-EC82-40DC-9C48-B12982569767}" destId="{1DFE48AA-201A-48D6-87F9-A3596A7E1A01}" srcOrd="2" destOrd="0" parTransId="{53FEF7C8-94E4-4DBB-BFF1-2C0F71E0EA15}" sibTransId="{DF3F10C0-4884-4AEA-BB15-303842232A16}"/>
    <dgm:cxn modelId="{54A29DC0-5F63-4A12-BB54-BE79416FAA18}" srcId="{1D85D9DE-EC82-40DC-9C48-B12982569767}" destId="{07334522-433F-4404-B791-6D10FB394D3B}" srcOrd="3" destOrd="0" parTransId="{24FCC122-8B96-400D-954E-0E2FF2493AF8}" sibTransId="{268BF30F-0E94-419C-863F-7CAC975DDED9}"/>
    <dgm:cxn modelId="{B668C5D9-2C55-491A-B2B4-E1E44182B270}" type="presOf" srcId="{30241F06-D2E0-49F9-B684-09A1F55A3C8F}" destId="{1BA413B8-1AC0-47D5-9206-AC7C6EAB4736}" srcOrd="0" destOrd="0" presId="urn:microsoft.com/office/officeart/2005/8/layout/vList2"/>
    <dgm:cxn modelId="{8FAE42E6-19A6-43BF-8304-D345223D87FF}" type="presOf" srcId="{1D85D9DE-EC82-40DC-9C48-B12982569767}" destId="{7F1BCF8C-0D01-4896-A8CB-5CC9037FBE9F}" srcOrd="0" destOrd="0" presId="urn:microsoft.com/office/officeart/2005/8/layout/vList2"/>
    <dgm:cxn modelId="{00BC9CF9-1FD3-4677-A8C1-07FE9E487E3E}" srcId="{1D85D9DE-EC82-40DC-9C48-B12982569767}" destId="{30241F06-D2E0-49F9-B684-09A1F55A3C8F}" srcOrd="1" destOrd="0" parTransId="{E31DEEA7-BD9C-485D-8FFB-19AE611F9DD2}" sibTransId="{C3B05FA6-3A5E-4C00-A552-10BE31185941}"/>
    <dgm:cxn modelId="{5366B320-D19A-4819-8404-3A14255F4743}" type="presParOf" srcId="{7F1BCF8C-0D01-4896-A8CB-5CC9037FBE9F}" destId="{E196B222-5A69-455B-A1DB-07F40648BE11}" srcOrd="0" destOrd="0" presId="urn:microsoft.com/office/officeart/2005/8/layout/vList2"/>
    <dgm:cxn modelId="{F5D17483-C09D-4B2E-B6A7-F875A91F6D7D}" type="presParOf" srcId="{7F1BCF8C-0D01-4896-A8CB-5CC9037FBE9F}" destId="{2D6CA463-D3AC-4A4C-A044-BAA901B666CF}" srcOrd="1" destOrd="0" presId="urn:microsoft.com/office/officeart/2005/8/layout/vList2"/>
    <dgm:cxn modelId="{93CC6336-2998-4145-9768-1901A504AAC6}" type="presParOf" srcId="{7F1BCF8C-0D01-4896-A8CB-5CC9037FBE9F}" destId="{1BA413B8-1AC0-47D5-9206-AC7C6EAB4736}" srcOrd="2" destOrd="0" presId="urn:microsoft.com/office/officeart/2005/8/layout/vList2"/>
    <dgm:cxn modelId="{48C6575E-15A5-4F79-80D8-78B6CBD9C23E}" type="presParOf" srcId="{7F1BCF8C-0D01-4896-A8CB-5CC9037FBE9F}" destId="{E17B83A7-156D-4F11-A6BB-D0BCA95A81C9}" srcOrd="3" destOrd="0" presId="urn:microsoft.com/office/officeart/2005/8/layout/vList2"/>
    <dgm:cxn modelId="{ABC81C32-1D62-4D90-B6E0-D1D426977E54}" type="presParOf" srcId="{7F1BCF8C-0D01-4896-A8CB-5CC9037FBE9F}" destId="{17EB41D8-870B-4826-9F1F-4FE7DE93AC9A}" srcOrd="4" destOrd="0" presId="urn:microsoft.com/office/officeart/2005/8/layout/vList2"/>
    <dgm:cxn modelId="{2FE01253-0FC7-4191-A773-E43DE1683046}" type="presParOf" srcId="{7F1BCF8C-0D01-4896-A8CB-5CC9037FBE9F}" destId="{9CC0738B-2F6C-4440-909B-1C62C67758EC}" srcOrd="5" destOrd="0" presId="urn:microsoft.com/office/officeart/2005/8/layout/vList2"/>
    <dgm:cxn modelId="{5ED8B010-C7CE-41D7-A8FA-06C3608C57A4}" type="presParOf" srcId="{7F1BCF8C-0D01-4896-A8CB-5CC9037FBE9F}" destId="{C4AC80C2-F435-419B-8688-FBE738B4D76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96B222-5A69-455B-A1DB-07F40648BE11}">
      <dsp:nvSpPr>
        <dsp:cNvPr id="0" name=""/>
        <dsp:cNvSpPr/>
      </dsp:nvSpPr>
      <dsp:spPr>
        <a:xfrm>
          <a:off x="0" y="23230"/>
          <a:ext cx="10684933" cy="139851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What makes these operating systems different than the ones you have experienced?</a:t>
          </a:r>
          <a:endParaRPr lang="en-US" sz="2500" kern="1200"/>
        </a:p>
      </dsp:txBody>
      <dsp:txXfrm>
        <a:off x="68270" y="91500"/>
        <a:ext cx="10548393" cy="1261975"/>
      </dsp:txXfrm>
    </dsp:sp>
    <dsp:sp modelId="{1BA413B8-1AC0-47D5-9206-AC7C6EAB4736}">
      <dsp:nvSpPr>
        <dsp:cNvPr id="0" name=""/>
        <dsp:cNvSpPr/>
      </dsp:nvSpPr>
      <dsp:spPr>
        <a:xfrm>
          <a:off x="0" y="1493745"/>
          <a:ext cx="10684933" cy="1398515"/>
        </a:xfrm>
        <a:prstGeom prst="roundRec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What devices would you expect to see these software on?</a:t>
          </a:r>
          <a:endParaRPr lang="en-US" sz="2500" kern="1200" dirty="0"/>
        </a:p>
      </dsp:txBody>
      <dsp:txXfrm>
        <a:off x="68270" y="1562015"/>
        <a:ext cx="10548393" cy="1261975"/>
      </dsp:txXfrm>
    </dsp:sp>
    <dsp:sp modelId="{17EB41D8-870B-4826-9F1F-4FE7DE93AC9A}">
      <dsp:nvSpPr>
        <dsp:cNvPr id="0" name=""/>
        <dsp:cNvSpPr/>
      </dsp:nvSpPr>
      <dsp:spPr>
        <a:xfrm>
          <a:off x="0" y="2964261"/>
          <a:ext cx="10684933" cy="1398515"/>
        </a:xfrm>
        <a:prstGeom prst="roundRect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Linux is a family of open-source operating systems and forms the kernel for other operating systems such as Android as well as controlling web servers. It is also used as an OS for embedded devices.</a:t>
          </a:r>
          <a:endParaRPr lang="en-US" sz="2500" kern="1200"/>
        </a:p>
      </dsp:txBody>
      <dsp:txXfrm>
        <a:off x="68270" y="3032531"/>
        <a:ext cx="10548393" cy="1261975"/>
      </dsp:txXfrm>
    </dsp:sp>
    <dsp:sp modelId="{C4AC80C2-F435-419B-8688-FBE738B4D762}">
      <dsp:nvSpPr>
        <dsp:cNvPr id="0" name=""/>
        <dsp:cNvSpPr/>
      </dsp:nvSpPr>
      <dsp:spPr>
        <a:xfrm>
          <a:off x="0" y="4434777"/>
          <a:ext cx="10684933" cy="1398515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Ubuntu is also mostly free and open-source software and is developed for individual computers, network servers in data </a:t>
          </a:r>
          <a:r>
            <a:rPr lang="en-US" sz="2500" b="1" kern="1200" dirty="0" err="1"/>
            <a:t>centres</a:t>
          </a:r>
          <a:r>
            <a:rPr lang="en-US" sz="2500" b="1" kern="1200" dirty="0"/>
            <a:t> and smart devices as well as robotics.</a:t>
          </a:r>
          <a:endParaRPr lang="en-US" sz="2500" kern="1200" dirty="0"/>
        </a:p>
      </dsp:txBody>
      <dsp:txXfrm>
        <a:off x="68270" y="4503047"/>
        <a:ext cx="10548393" cy="12619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Arc 30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38600" y="1939159"/>
            <a:ext cx="7644627" cy="2751086"/>
          </a:xfrm>
        </p:spPr>
        <p:txBody>
          <a:bodyPr>
            <a:normAutofit/>
          </a:bodyPr>
          <a:lstStyle/>
          <a:p>
            <a:pPr algn="r"/>
            <a:r>
              <a:rPr lang="en-US" dirty="0">
                <a:cs typeface="Calibri Light"/>
              </a:rPr>
              <a:t>Operating Systems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38600" y="4782320"/>
            <a:ext cx="7644627" cy="1329443"/>
          </a:xfrm>
        </p:spPr>
        <p:txBody>
          <a:bodyPr vert="horz" lIns="91440" tIns="45720" rIns="91440" bIns="45720" rtlCol="0">
            <a:normAutofit/>
          </a:bodyPr>
          <a:lstStyle/>
          <a:p>
            <a:pPr algn="r"/>
            <a:r>
              <a:rPr lang="en-US" dirty="0">
                <a:ea typeface="Calibri"/>
                <a:cs typeface="Calibri"/>
              </a:rPr>
              <a:t>Unit 2 – Technology Systems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2C90E9-91C7-EA3C-2D7E-616802F8A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US" sz="5200">
                <a:ea typeface="Calibri Light"/>
                <a:cs typeface="Calibri Light"/>
              </a:rPr>
              <a:t>Learning Objectives</a:t>
            </a:r>
            <a:endParaRPr lang="en-US" sz="520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372B77A-4E89-2E62-1EDF-A2C6859E32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3039532"/>
              </p:ext>
            </p:extLst>
          </p:nvPr>
        </p:nvGraphicFramePr>
        <p:xfrm>
          <a:off x="838200" y="2472713"/>
          <a:ext cx="10515600" cy="2556943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0515600">
                  <a:extLst>
                    <a:ext uri="{9D8B030D-6E8A-4147-A177-3AD203B41FA5}">
                      <a16:colId xmlns:a16="http://schemas.microsoft.com/office/drawing/2014/main" val="1980941274"/>
                    </a:ext>
                  </a:extLst>
                </a:gridCol>
              </a:tblGrid>
              <a:tr h="766997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i="0" u="none" strike="noStrike" cap="none" spc="0" baseline="0" noProof="0" dirty="0">
                          <a:solidFill>
                            <a:srgbClr val="000000"/>
                          </a:solidFill>
                          <a:effectLst/>
                          <a:latin typeface="Century Gothic"/>
                        </a:rPr>
                        <a:t>Understand that there is a difference between an operating system and an application program.</a:t>
                      </a:r>
                      <a:endParaRPr lang="en-GB" sz="2000" b="0" i="0" u="none" strike="noStrike" cap="none" spc="0" noProof="0" dirty="0">
                        <a:solidFill>
                          <a:schemeClr val="tx1"/>
                        </a:solidFill>
                        <a:effectLst/>
                        <a:latin typeface="Century Gothic"/>
                      </a:endParaRPr>
                    </a:p>
                  </a:txBody>
                  <a:tcPr marL="206675" marR="206675" marT="206675" marB="20667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5558865"/>
                  </a:ext>
                </a:extLst>
              </a:tr>
              <a:tr h="766997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20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List 4 or 5 different functions of an operating system accurately.</a:t>
                      </a:r>
                      <a:endParaRPr lang="en-US" dirty="0"/>
                    </a:p>
                  </a:txBody>
                  <a:tcPr marL="206675" marR="206675" marT="206675" marB="206675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12023"/>
                  </a:ext>
                </a:extLst>
              </a:tr>
              <a:tr h="766996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2000" b="0" i="0" u="none" strike="noStrike" cap="none" spc="0" noProof="0" dirty="0">
                          <a:solidFill>
                            <a:schemeClr val="tx1"/>
                          </a:solidFill>
                          <a:effectLst/>
                          <a:latin typeface="Century Gothic"/>
                        </a:rPr>
                        <a:t>Describe the importance of an operating system</a:t>
                      </a:r>
                      <a:endParaRPr lang="en-US" dirty="0"/>
                    </a:p>
                  </a:txBody>
                  <a:tcPr marL="206674" marR="206674" marT="206674" marB="206674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447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0125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4CBDBB-4FBD-4B9E-BD01-054A81D43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01A6F03-171F-40B2-8B2C-A061B89241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2C4834C-B602-4125-8264-BD0D55A588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172EE5-132F-4DD4-8855-4DBBD9C346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95844" y="1110000"/>
            <a:ext cx="10195740" cy="4629235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C44671-B854-0251-DAD7-57DF54AFA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9468" y="1302871"/>
            <a:ext cx="8188026" cy="943984"/>
          </a:xfrm>
        </p:spPr>
        <p:txBody>
          <a:bodyPr anchor="b">
            <a:normAutofit/>
          </a:bodyPr>
          <a:lstStyle/>
          <a:p>
            <a:pPr algn="ctr"/>
            <a:r>
              <a:rPr lang="en-US" sz="4800">
                <a:ea typeface="+mj-lt"/>
                <a:cs typeface="+mj-lt"/>
              </a:rPr>
              <a:t>Answer the following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7DEE1-81EC-E4E1-36D9-072DD0241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7493" y="2493829"/>
            <a:ext cx="9735657" cy="308245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spcBef>
                <a:spcPct val="0"/>
              </a:spcBef>
              <a:spcAft>
                <a:spcPts val="600"/>
              </a:spcAft>
              <a:buAutoNum type="arabicPeriod"/>
            </a:pPr>
            <a:r>
              <a:rPr lang="en-US" sz="2400" dirty="0">
                <a:latin typeface="Century Gothic"/>
              </a:rPr>
              <a:t>What word is missing?  Input ____________ Output</a:t>
            </a:r>
            <a:endParaRPr lang="en-US" sz="2400">
              <a:ea typeface="Calibri"/>
              <a:cs typeface="Calibri"/>
            </a:endParaRPr>
          </a:p>
          <a:p>
            <a:pPr marL="342900" indent="-342900">
              <a:spcBef>
                <a:spcPct val="0"/>
              </a:spcBef>
              <a:spcAft>
                <a:spcPts val="600"/>
              </a:spcAft>
              <a:buAutoNum type="arabicPeriod"/>
            </a:pPr>
            <a:r>
              <a:rPr lang="en-US" sz="2400" dirty="0">
                <a:latin typeface="Century Gothic"/>
              </a:rPr>
              <a:t>What does the P stand for in </a:t>
            </a:r>
            <a:r>
              <a:rPr lang="en-US" sz="2400" u="sng" dirty="0">
                <a:latin typeface="Century Gothic"/>
              </a:rPr>
              <a:t>CPU</a:t>
            </a:r>
            <a:r>
              <a:rPr lang="en-US" sz="2400" dirty="0">
                <a:latin typeface="Century Gothic"/>
              </a:rPr>
              <a:t>?</a:t>
            </a:r>
          </a:p>
          <a:p>
            <a:pPr marL="342900" indent="-342900">
              <a:spcBef>
                <a:spcPct val="0"/>
              </a:spcBef>
              <a:spcAft>
                <a:spcPts val="600"/>
              </a:spcAft>
              <a:buAutoNum type="arabicPeriod"/>
            </a:pPr>
            <a:r>
              <a:rPr lang="en-US" sz="2400" dirty="0">
                <a:latin typeface="Century Gothic"/>
              </a:rPr>
              <a:t>What are the </a:t>
            </a:r>
            <a:r>
              <a:rPr lang="en-US" sz="2400" u="sng" dirty="0">
                <a:latin typeface="Century Gothic"/>
              </a:rPr>
              <a:t>two</a:t>
            </a:r>
            <a:r>
              <a:rPr lang="en-US" sz="2400" dirty="0">
                <a:latin typeface="Century Gothic"/>
              </a:rPr>
              <a:t> main purposes of the ALU in the CPU?</a:t>
            </a:r>
          </a:p>
          <a:p>
            <a:pPr marL="342900" indent="-342900">
              <a:spcBef>
                <a:spcPct val="0"/>
              </a:spcBef>
              <a:spcAft>
                <a:spcPts val="600"/>
              </a:spcAft>
              <a:buAutoNum type="arabicPeriod"/>
            </a:pPr>
            <a:r>
              <a:rPr lang="en-US" sz="2400" dirty="0">
                <a:latin typeface="Century Gothic"/>
              </a:rPr>
              <a:t>Which has the largest storage capacity: </a:t>
            </a:r>
            <a:r>
              <a:rPr lang="en-US" sz="2400" u="sng" dirty="0">
                <a:latin typeface="Century Gothic"/>
              </a:rPr>
              <a:t>CD-ROM, SD-HC card</a:t>
            </a:r>
            <a:r>
              <a:rPr lang="en-US" sz="2400" dirty="0">
                <a:latin typeface="Century Gothic"/>
              </a:rPr>
              <a:t> or </a:t>
            </a:r>
            <a:r>
              <a:rPr lang="en-US" sz="2400" u="sng" dirty="0">
                <a:latin typeface="Century Gothic"/>
              </a:rPr>
              <a:t>HDD</a:t>
            </a:r>
            <a:r>
              <a:rPr lang="en-US" sz="2400" dirty="0">
                <a:latin typeface="Century Gothic"/>
              </a:rPr>
              <a:t>?</a:t>
            </a:r>
          </a:p>
          <a:p>
            <a:pPr marL="342900" indent="-342900">
              <a:spcBef>
                <a:spcPct val="0"/>
              </a:spcBef>
              <a:spcAft>
                <a:spcPts val="600"/>
              </a:spcAft>
              <a:buAutoNum type="arabicPeriod"/>
            </a:pPr>
            <a:r>
              <a:rPr lang="en-US" sz="2400" dirty="0">
                <a:latin typeface="Century Gothic"/>
              </a:rPr>
              <a:t>An embedded system performs a </a:t>
            </a:r>
            <a:r>
              <a:rPr lang="en-US" sz="2400" u="sng" dirty="0">
                <a:latin typeface="Century Gothic"/>
              </a:rPr>
              <a:t>small number / large number </a:t>
            </a:r>
            <a:r>
              <a:rPr lang="en-US" sz="2400" dirty="0">
                <a:latin typeface="Century Gothic"/>
              </a:rPr>
              <a:t>of different tasks.</a:t>
            </a:r>
            <a:endParaRPr lang="en-US" sz="2400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632540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40236-7538-BC40-C7F2-13E0D43C0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Solutions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993CF84-B5E3-D2E2-5F81-87C17B50A9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5091" y="1825625"/>
            <a:ext cx="10181818" cy="4351338"/>
          </a:xfrm>
        </p:spPr>
      </p:pic>
    </p:spTree>
    <p:extLst>
      <p:ext uri="{BB962C8B-B14F-4D97-AF65-F5344CB8AC3E}">
        <p14:creationId xmlns:p14="http://schemas.microsoft.com/office/powerpoint/2010/main" val="1545785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35363-E297-D153-3068-F0B97299E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ea typeface="Calibri Light"/>
                <a:cs typeface="Calibri Light"/>
              </a:rPr>
              <a:t>Apart from the type of hardware, what other </a:t>
            </a:r>
            <a:r>
              <a:rPr lang="en-US">
                <a:ea typeface="Calibri Light"/>
                <a:cs typeface="Calibri Light"/>
              </a:rPr>
              <a:t>differences are there in these devices?</a:t>
            </a:r>
          </a:p>
        </p:txBody>
      </p:sp>
      <p:pic>
        <p:nvPicPr>
          <p:cNvPr id="4" name="Content Placeholder 3" descr="Puffin OS” for “Smartphone 2.0”. Puffin made its name as the fastest… | by  CloudMosa, Inc. | CloudMosa EN | Medium">
            <a:extLst>
              <a:ext uri="{FF2B5EF4-FFF2-40B4-BE49-F238E27FC236}">
                <a16:creationId xmlns:a16="http://schemas.microsoft.com/office/drawing/2014/main" id="{E91F3D45-8CD4-2FE0-F905-E1B7414D39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71987" y="2567781"/>
            <a:ext cx="3248025" cy="2867025"/>
          </a:xfrm>
        </p:spPr>
      </p:pic>
      <p:pic>
        <p:nvPicPr>
          <p:cNvPr id="5" name="Picture 4" descr="Laptop Windows 10 Desktop Computers, PNG, 864x655px, Laptop, Acer Inc,  Computer, Computer Hardware, Computer Monitor Download">
            <a:extLst>
              <a:ext uri="{FF2B5EF4-FFF2-40B4-BE49-F238E27FC236}">
                <a16:creationId xmlns:a16="http://schemas.microsoft.com/office/drawing/2014/main" id="{A99367CC-FDAE-CAA7-59DD-0C8C309779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101" y="2129602"/>
            <a:ext cx="5306131" cy="4020491"/>
          </a:xfrm>
          <a:prstGeom prst="rect">
            <a:avLst/>
          </a:prstGeom>
        </p:spPr>
      </p:pic>
      <p:pic>
        <p:nvPicPr>
          <p:cNvPr id="6" name="Picture 5" descr="iPad Mini 4 Vs iPad Mini 3 Vs iPad Mini 2: What's The Difference?">
            <a:extLst>
              <a:ext uri="{FF2B5EF4-FFF2-40B4-BE49-F238E27FC236}">
                <a16:creationId xmlns:a16="http://schemas.microsoft.com/office/drawing/2014/main" id="{CC9B4F69-B90A-BA18-C478-17C94D46A0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6773" y="1773884"/>
            <a:ext cx="6200775" cy="479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918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09539F-2A3F-8E97-796C-03F86B9BD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US" sz="3600">
                <a:latin typeface="Calibri Light"/>
                <a:ea typeface="Calibri Light"/>
                <a:cs typeface="Calibri Light"/>
              </a:rPr>
              <a:t>Name the operating systems you have experienced…</a:t>
            </a:r>
            <a:endParaRPr lang="en-US" sz="3600"/>
          </a:p>
        </p:txBody>
      </p:sp>
      <p:pic>
        <p:nvPicPr>
          <p:cNvPr id="4" name="Picture 3" descr="Android logo - Free logo icons">
            <a:extLst>
              <a:ext uri="{FF2B5EF4-FFF2-40B4-BE49-F238E27FC236}">
                <a16:creationId xmlns:a16="http://schemas.microsoft.com/office/drawing/2014/main" id="{8D725C07-2D9F-DB51-822E-6E2747EAAE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7877" y="2565709"/>
            <a:ext cx="1257982" cy="1257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Ios PNG, Ios Transparent Background - FreeIconsPNG">
            <a:extLst>
              <a:ext uri="{FF2B5EF4-FFF2-40B4-BE49-F238E27FC236}">
                <a16:creationId xmlns:a16="http://schemas.microsoft.com/office/drawing/2014/main" id="{4EEF2A35-01ED-7EAC-06EB-9FA5F2D3DC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682" y="2469972"/>
            <a:ext cx="1620925" cy="1620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Microsoft Unveils Redesigned Windows Logo : The Two-Way : NPR">
            <a:extLst>
              <a:ext uri="{FF2B5EF4-FFF2-40B4-BE49-F238E27FC236}">
                <a16:creationId xmlns:a16="http://schemas.microsoft.com/office/drawing/2014/main" id="{555C09DF-DAD3-80DF-DE21-61F525E3C1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8866" y="2534020"/>
            <a:ext cx="1248128" cy="1221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Ubuntu icon Logo PNG Transparent &amp; SVG Vector - Freebie Supply">
            <a:extLst>
              <a:ext uri="{FF2B5EF4-FFF2-40B4-BE49-F238E27FC236}">
                <a16:creationId xmlns:a16="http://schemas.microsoft.com/office/drawing/2014/main" id="{983C2C74-2A03-8686-A013-013250D493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5132" y="2729024"/>
            <a:ext cx="1052698" cy="1047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 descr="Linux logo and symbol, meaning, history, PNG">
            <a:extLst>
              <a:ext uri="{FF2B5EF4-FFF2-40B4-BE49-F238E27FC236}">
                <a16:creationId xmlns:a16="http://schemas.microsoft.com/office/drawing/2014/main" id="{CB09061C-E0EB-C695-521C-AF6CA05EB4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7962" y="2531587"/>
            <a:ext cx="1294112" cy="1428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6">
            <a:extLst>
              <a:ext uri="{FF2B5EF4-FFF2-40B4-BE49-F238E27FC236}">
                <a16:creationId xmlns:a16="http://schemas.microsoft.com/office/drawing/2014/main" id="{A99F3CBA-39F8-1DBF-D305-F495FE752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1467" y="4028062"/>
            <a:ext cx="1351592" cy="381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algn="ctr" defTabSz="941832" eaLnBrk="1" hangingPunct="1">
              <a:spcAft>
                <a:spcPts val="600"/>
              </a:spcAft>
            </a:pPr>
            <a:r>
              <a:rPr lang="en-US" altLang="en-US" sz="1854" b="1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rPr>
              <a:t>Android</a:t>
            </a:r>
            <a:endParaRPr lang="en-US" altLang="en-US" b="1"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B440E3CB-57C5-33A7-4A4C-F5F306472B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030070"/>
            <a:ext cx="1906315" cy="38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algn="ctr" defTabSz="941832" eaLnBrk="1" hangingPunct="1">
              <a:spcAft>
                <a:spcPts val="600"/>
              </a:spcAft>
            </a:pPr>
            <a:r>
              <a:rPr lang="en-US" altLang="en-US" sz="1854" b="1" kern="1200">
                <a:solidFill>
                  <a:schemeClr val="tx1"/>
                </a:solidFill>
                <a:latin typeface="Century Gothic"/>
                <a:ea typeface="+mn-ea"/>
                <a:cs typeface="+mn-cs"/>
              </a:rPr>
              <a:t>iOS/MacOS</a:t>
            </a:r>
            <a:endParaRPr lang="en-US"/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E1E45B3C-646D-8EAB-351C-C6FB00DF7B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01814" y="3956288"/>
            <a:ext cx="1353234" cy="38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algn="ctr" defTabSz="941832" eaLnBrk="1" hangingPunct="1">
              <a:spcAft>
                <a:spcPts val="600"/>
              </a:spcAft>
            </a:pPr>
            <a:r>
              <a:rPr lang="en-US" altLang="en-US" sz="1854" b="1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rPr>
              <a:t>Windows</a:t>
            </a:r>
            <a:endParaRPr lang="en-US" altLang="en-US" b="1"/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A879FC44-9AFE-7F31-0492-D5D580B549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7834" y="4002334"/>
            <a:ext cx="1351592" cy="381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algn="ctr" defTabSz="941832" eaLnBrk="1" hangingPunct="1">
              <a:spcAft>
                <a:spcPts val="600"/>
              </a:spcAft>
            </a:pPr>
            <a:r>
              <a:rPr lang="en-US" altLang="en-US" sz="1854" b="1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rPr>
              <a:t>Ubuntu</a:t>
            </a:r>
            <a:endParaRPr lang="en-US" altLang="en-US" b="1"/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EF22D201-C108-9EC9-F94E-5A45F29A49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9057" y="3991142"/>
            <a:ext cx="1351592" cy="382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algn="ctr" defTabSz="941832" eaLnBrk="1" hangingPunct="1">
              <a:spcAft>
                <a:spcPts val="600"/>
              </a:spcAft>
            </a:pPr>
            <a:r>
              <a:rPr lang="en-US" altLang="en-US" sz="1854" b="1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rPr>
              <a:t>Linux</a:t>
            </a:r>
            <a:endParaRPr lang="en-US" altLang="en-US" b="1"/>
          </a:p>
        </p:txBody>
      </p:sp>
      <p:sp>
        <p:nvSpPr>
          <p:cNvPr id="25" name="TextBox 2">
            <a:extLst>
              <a:ext uri="{FF2B5EF4-FFF2-40B4-BE49-F238E27FC236}">
                <a16:creationId xmlns:a16="http://schemas.microsoft.com/office/drawing/2014/main" id="{1AF65371-F359-DA1C-A528-21554118A6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9004" y="4935814"/>
            <a:ext cx="10224796" cy="604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defTabSz="941832" eaLnBrk="1" hangingPunct="1">
              <a:spcAft>
                <a:spcPts val="600"/>
              </a:spcAft>
            </a:pPr>
            <a:r>
              <a:rPr lang="en-US" altLang="en-US" sz="3296" b="1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rPr>
              <a:t>Have you heard of any other operating systems?</a:t>
            </a:r>
            <a:endParaRPr lang="en-US" altLang="en-US" sz="3200" b="1"/>
          </a:p>
        </p:txBody>
      </p:sp>
    </p:spTree>
    <p:extLst>
      <p:ext uri="{BB962C8B-B14F-4D97-AF65-F5344CB8AC3E}">
        <p14:creationId xmlns:p14="http://schemas.microsoft.com/office/powerpoint/2010/main" val="1181681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0" grpId="0"/>
      <p:bldP spid="11" grpId="0"/>
      <p:bldP spid="12" grpId="0"/>
      <p:bldP spid="13" grpId="0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EA92B5C-4F8A-FCB0-A1A0-9911A5337A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7594266"/>
              </p:ext>
            </p:extLst>
          </p:nvPr>
        </p:nvGraphicFramePr>
        <p:xfrm>
          <a:off x="753533" y="499181"/>
          <a:ext cx="10684933" cy="58565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86290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196B222-5A69-455B-A1DB-07F40648BE1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E196B222-5A69-455B-A1DB-07F40648BE1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E196B222-5A69-455B-A1DB-07F40648BE1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BA413B8-1AC0-47D5-9206-AC7C6EAB47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graphicEl>
                                              <a:dgm id="{1BA413B8-1AC0-47D5-9206-AC7C6EAB47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graphicEl>
                                              <a:dgm id="{1BA413B8-1AC0-47D5-9206-AC7C6EAB47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7EB41D8-870B-4826-9F1F-4FE7DE93AC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graphicEl>
                                              <a:dgm id="{17EB41D8-870B-4826-9F1F-4FE7DE93AC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graphicEl>
                                              <a:dgm id="{17EB41D8-870B-4826-9F1F-4FE7DE93AC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4AC80C2-F435-419B-8688-FBE738B4D7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graphicEl>
                                              <a:dgm id="{C4AC80C2-F435-419B-8688-FBE738B4D7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graphicEl>
                                              <a:dgm id="{C4AC80C2-F435-419B-8688-FBE738B4D7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lvl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41C67D0-A496-4B86-BF61-263FF9EFD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6068" y="320442"/>
            <a:ext cx="6572492" cy="6212748"/>
          </a:xfrm>
          <a:custGeom>
            <a:avLst/>
            <a:gdLst>
              <a:gd name="connsiteX0" fmla="*/ 0 w 6572492"/>
              <a:gd name="connsiteY0" fmla="*/ 0 h 6212748"/>
              <a:gd name="connsiteX1" fmla="*/ 2248593 w 6572492"/>
              <a:gd name="connsiteY1" fmla="*/ 0 h 6212748"/>
              <a:gd name="connsiteX2" fmla="*/ 2694770 w 6572492"/>
              <a:gd name="connsiteY2" fmla="*/ 0 h 6212748"/>
              <a:gd name="connsiteX3" fmla="*/ 2991094 w 6572492"/>
              <a:gd name="connsiteY3" fmla="*/ 0 h 6212748"/>
              <a:gd name="connsiteX4" fmla="*/ 6572492 w 6572492"/>
              <a:gd name="connsiteY4" fmla="*/ 0 h 6212748"/>
              <a:gd name="connsiteX5" fmla="*/ 6572492 w 6572492"/>
              <a:gd name="connsiteY5" fmla="*/ 2864954 h 6212748"/>
              <a:gd name="connsiteX6" fmla="*/ 3129047 w 6572492"/>
              <a:gd name="connsiteY6" fmla="*/ 6212748 h 6212748"/>
              <a:gd name="connsiteX7" fmla="*/ 2694770 w 6572492"/>
              <a:gd name="connsiteY7" fmla="*/ 6212748 h 6212748"/>
              <a:gd name="connsiteX8" fmla="*/ 2248593 w 6572492"/>
              <a:gd name="connsiteY8" fmla="*/ 6212748 h 6212748"/>
              <a:gd name="connsiteX9" fmla="*/ 0 w 6572492"/>
              <a:gd name="connsiteY9" fmla="*/ 6212748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572492" h="6212748">
                <a:moveTo>
                  <a:pt x="0" y="0"/>
                </a:moveTo>
                <a:lnTo>
                  <a:pt x="2248593" y="0"/>
                </a:lnTo>
                <a:lnTo>
                  <a:pt x="2694770" y="0"/>
                </a:lnTo>
                <a:lnTo>
                  <a:pt x="2991094" y="0"/>
                </a:lnTo>
                <a:lnTo>
                  <a:pt x="6572492" y="0"/>
                </a:lnTo>
                <a:lnTo>
                  <a:pt x="6572492" y="2864954"/>
                </a:lnTo>
                <a:lnTo>
                  <a:pt x="3129047" y="6212748"/>
                </a:lnTo>
                <a:lnTo>
                  <a:pt x="2694770" y="6212748"/>
                </a:lnTo>
                <a:lnTo>
                  <a:pt x="2248593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A21979-5AB2-956A-71A9-EA62E9A3A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0700" y="1188637"/>
            <a:ext cx="5327272" cy="1642850"/>
          </a:xfrm>
        </p:spPr>
        <p:txBody>
          <a:bodyPr>
            <a:normAutofit/>
          </a:bodyPr>
          <a:lstStyle/>
          <a:p>
            <a:r>
              <a:rPr lang="en-US" sz="5000">
                <a:ea typeface="Calibri Light"/>
                <a:cs typeface="Calibri Light"/>
              </a:rPr>
              <a:t>Why do we need an operating system?</a:t>
            </a:r>
            <a:endParaRPr lang="en-US" sz="5000"/>
          </a:p>
        </p:txBody>
      </p:sp>
      <p:pic>
        <p:nvPicPr>
          <p:cNvPr id="6" name="Picture 5" descr="Whatsapp logo icon Royalty Free Vector Image - VectorStock">
            <a:extLst>
              <a:ext uri="{FF2B5EF4-FFF2-40B4-BE49-F238E27FC236}">
                <a16:creationId xmlns:a16="http://schemas.microsoft.com/office/drawing/2014/main" id="{73962709-9CFF-4419-FFDD-586B7B547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092" y="1266742"/>
            <a:ext cx="2084123" cy="2010995"/>
          </a:xfrm>
          <a:prstGeom prst="rect">
            <a:avLst/>
          </a:prstGeom>
        </p:spPr>
      </p:pic>
      <p:pic>
        <p:nvPicPr>
          <p:cNvPr id="7" name="Picture 6" descr="Puffin OS” for “Smartphone 2.0”. Puffin made its name as the fastest… | by  CloudMosa, Inc. | CloudMosa EN | Medium">
            <a:extLst>
              <a:ext uri="{FF2B5EF4-FFF2-40B4-BE49-F238E27FC236}">
                <a16:creationId xmlns:a16="http://schemas.microsoft.com/office/drawing/2014/main" id="{FA09B176-49F0-C6B8-BA24-F0162CC6AF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235" y="3269326"/>
            <a:ext cx="2996577" cy="263209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2CB40-02F3-C47D-F8EC-6DDC5ABA9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0700" y="3086514"/>
            <a:ext cx="4470533" cy="185249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Calibri"/>
                <a:ea typeface="Calibri"/>
                <a:cs typeface="Calibri"/>
              </a:rPr>
              <a:t>An operating system is a platform for apps and programs to inhabit so that the user can see that they are there and access them quickly.</a:t>
            </a:r>
          </a:p>
          <a:p>
            <a:endParaRPr lang="en-US" sz="2000" dirty="0">
              <a:ea typeface="Calibri"/>
              <a:cs typeface="Calibri"/>
            </a:endParaRPr>
          </a:p>
        </p:txBody>
      </p:sp>
      <p:pic>
        <p:nvPicPr>
          <p:cNvPr id="4" name="Picture 3" descr="File:Google Chrome icon (February 2022).svg - Wikimedia Commons">
            <a:extLst>
              <a:ext uri="{FF2B5EF4-FFF2-40B4-BE49-F238E27FC236}">
                <a16:creationId xmlns:a16="http://schemas.microsoft.com/office/drawing/2014/main" id="{C98F0F34-0AA9-3E57-7C0D-C37B824EBE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1097" y="2532356"/>
            <a:ext cx="990600" cy="990600"/>
          </a:xfrm>
          <a:prstGeom prst="rect">
            <a:avLst/>
          </a:prstGeom>
        </p:spPr>
      </p:pic>
      <p:pic>
        <p:nvPicPr>
          <p:cNvPr id="5" name="Picture 4" descr="A red circle with a white silhouette of a person&#10;&#10;Description automatically generated">
            <a:extLst>
              <a:ext uri="{FF2B5EF4-FFF2-40B4-BE49-F238E27FC236}">
                <a16:creationId xmlns:a16="http://schemas.microsoft.com/office/drawing/2014/main" id="{128E1616-E01A-8AAD-387C-45C47FE39A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5750" y="1433453"/>
            <a:ext cx="990600" cy="100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686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8A05D5-BACE-8A84-94D4-587568221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7200" dirty="0">
                <a:ea typeface="Calibri Light"/>
                <a:cs typeface="Calibri Light"/>
              </a:rPr>
              <a:t>Activity</a:t>
            </a:r>
            <a:endParaRPr lang="en-US" sz="7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00235-CAFB-5076-4F1A-DD2B558EE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736387"/>
            <a:ext cx="8074815" cy="3033477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dirty="0"/>
              <a:t>Research what the main functions of the OS are.</a:t>
            </a:r>
          </a:p>
          <a:p>
            <a:pPr marL="0" indent="0">
              <a:buNone/>
            </a:pPr>
            <a:r>
              <a:rPr lang="en-US" sz="2000" dirty="0"/>
              <a:t>Here are some questions to answer for each function:</a:t>
            </a:r>
          </a:p>
          <a:p>
            <a:r>
              <a:rPr lang="en-US" sz="2000" dirty="0"/>
              <a:t>What is the primary role of this function?</a:t>
            </a:r>
          </a:p>
          <a:p>
            <a:r>
              <a:rPr lang="en-US" sz="2000" dirty="0"/>
              <a:t>How does it interact with other functions?</a:t>
            </a:r>
          </a:p>
          <a:p>
            <a:r>
              <a:rPr lang="en-US" sz="2000" dirty="0"/>
              <a:t>Can you provide examples of how this function operates in popular operating systems?</a:t>
            </a:r>
          </a:p>
          <a:p>
            <a:r>
              <a:rPr lang="en-US" sz="2000" dirty="0"/>
              <a:t>What are some common challenges or limitations associated with this function?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Presentation Slides / Notes in your notebook / Digital Notes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621290-6645-4E9B-AFB0-C70E62F22A9D}"/>
              </a:ext>
            </a:extLst>
          </p:cNvPr>
          <p:cNvSpPr txBox="1"/>
          <p:nvPr/>
        </p:nvSpPr>
        <p:spPr>
          <a:xfrm>
            <a:off x="6920917" y="663865"/>
            <a:ext cx="4580389" cy="203132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Here are some examples of the OS’s main functions:</a:t>
            </a:r>
          </a:p>
          <a:p>
            <a:pPr algn="ctr"/>
            <a:r>
              <a:rPr lang="en-GB" dirty="0"/>
              <a:t>Memory Management</a:t>
            </a:r>
          </a:p>
          <a:p>
            <a:pPr algn="ctr"/>
            <a:r>
              <a:rPr lang="en-GB" dirty="0"/>
              <a:t>File Management</a:t>
            </a:r>
          </a:p>
          <a:p>
            <a:pPr algn="ctr"/>
            <a:r>
              <a:rPr lang="en-GB" dirty="0"/>
              <a:t>Process Management</a:t>
            </a:r>
          </a:p>
          <a:p>
            <a:pPr algn="ctr"/>
            <a:r>
              <a:rPr lang="en-GB" dirty="0"/>
              <a:t>User Interface Management </a:t>
            </a:r>
          </a:p>
          <a:p>
            <a:pPr algn="ctr"/>
            <a:r>
              <a:rPr lang="en-GB" dirty="0"/>
              <a:t>(these are just a guide, what else can you find)</a:t>
            </a:r>
          </a:p>
        </p:txBody>
      </p:sp>
    </p:spTree>
    <p:extLst>
      <p:ext uri="{BB962C8B-B14F-4D97-AF65-F5344CB8AC3E}">
        <p14:creationId xmlns:p14="http://schemas.microsoft.com/office/powerpoint/2010/main" val="3804183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C15C3B-C41C-DEFE-EC73-9BE141CD0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Calibri Light"/>
                <a:cs typeface="Calibri Light"/>
              </a:rPr>
              <a:t>What are the main functions of an OS?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E3377-7F78-7B76-5EB1-43599306B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alibri"/>
                <a:ea typeface="Calibri"/>
                <a:cs typeface="Calibri"/>
              </a:rPr>
              <a:t>It is a user interface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The OS allows the user to communicate with the computer, giving instructions, and seeing what the computer has done with the instruction.</a:t>
            </a:r>
          </a:p>
          <a:p>
            <a:pPr marL="0" indent="0">
              <a:buNone/>
            </a:pPr>
            <a:r>
              <a:rPr lang="en-US" sz="2400" dirty="0">
                <a:ea typeface="Calibri"/>
                <a:cs typeface="Calibri"/>
              </a:rPr>
              <a:t>It controls hardware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The OS controls how instructions and data are passed to and from hardware attached… like a mouse click, a keyboard press or sound from speakers.</a:t>
            </a:r>
          </a:p>
          <a:p>
            <a:pPr marL="0" indent="0">
              <a:buNone/>
            </a:pPr>
            <a:r>
              <a:rPr lang="en-US" sz="2400" dirty="0">
                <a:ea typeface="Calibri"/>
                <a:cs typeface="Calibri"/>
              </a:rPr>
              <a:t>It controls the CPU</a:t>
            </a:r>
          </a:p>
          <a:p>
            <a:pPr marL="457200" indent="-457200"/>
            <a:r>
              <a:rPr lang="en-US" sz="2400" dirty="0">
                <a:latin typeface="Calibri" panose="020F0502020204030204"/>
                <a:ea typeface="Calibri"/>
                <a:cs typeface="Calibri"/>
              </a:rPr>
              <a:t>The OS controls how data and instructions are sent to the CPU.</a:t>
            </a:r>
          </a:p>
          <a:p>
            <a:pPr marL="457200" indent="-457200"/>
            <a:r>
              <a:rPr lang="en-US" sz="2400" dirty="0">
                <a:ea typeface="Calibri"/>
                <a:cs typeface="Calibri"/>
              </a:rPr>
              <a:t>It schedules how the CPU will be used to make the computer run as efficiently as possible.</a:t>
            </a:r>
          </a:p>
          <a:p>
            <a:pPr marL="457200" indent="-457200"/>
            <a:endParaRPr lang="en-US" sz="2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32784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7C59BEC-C4CC-4741-B975-08C543178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72DEF309-605D-4117-9340-6D589B6C3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6173" flipV="1">
            <a:off x="3930947" y="651615"/>
            <a:ext cx="4083433" cy="408343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68F29-C03C-1D63-F5CC-AA7759178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3361" cy="435133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>
                <a:ea typeface="Calibri" panose="020F0502020204030204"/>
                <a:cs typeface="Calibri" panose="020F0502020204030204"/>
              </a:rPr>
              <a:t>Manages file storage</a:t>
            </a:r>
            <a:endParaRPr lang="en-US" sz="2000"/>
          </a:p>
          <a:p>
            <a:r>
              <a:rPr lang="en-US" sz="2000">
                <a:latin typeface="Calibri" panose="020F0502020204030204"/>
                <a:ea typeface="Calibri" panose="020F0502020204030204"/>
                <a:cs typeface="Calibri" panose="020F0502020204030204"/>
              </a:rPr>
              <a:t>The OS decides how files will be saved on the hard disk and where they are saved.</a:t>
            </a:r>
          </a:p>
          <a:p>
            <a:r>
              <a:rPr lang="en-US" sz="2000">
                <a:latin typeface="Calibri" panose="020F0502020204030204"/>
                <a:ea typeface="Calibri" panose="020F0502020204030204"/>
                <a:cs typeface="Calibri" panose="020F0502020204030204"/>
              </a:rPr>
              <a:t>The OS also aims to optimize the use of the hard disk, to </a:t>
            </a:r>
            <a:r>
              <a:rPr lang="en-US" sz="2000" err="1">
                <a:latin typeface="Calibri" panose="020F0502020204030204"/>
                <a:ea typeface="Calibri" panose="020F0502020204030204"/>
                <a:cs typeface="Calibri" panose="020F0502020204030204"/>
              </a:rPr>
              <a:t>maximise</a:t>
            </a:r>
            <a:r>
              <a:rPr lang="en-US" sz="2000">
                <a:latin typeface="Calibri" panose="020F0502020204030204"/>
                <a:ea typeface="Calibri" panose="020F0502020204030204"/>
                <a:cs typeface="Calibri" panose="020F0502020204030204"/>
              </a:rPr>
              <a:t> available space.</a:t>
            </a:r>
          </a:p>
          <a:p>
            <a:r>
              <a:rPr lang="en-US" sz="2000">
                <a:latin typeface="Calibri" panose="020F0502020204030204"/>
                <a:ea typeface="Calibri" panose="020F0502020204030204"/>
                <a:cs typeface="Calibri" panose="020F0502020204030204"/>
              </a:rPr>
              <a:t>The OS controls how files and folders will be named and addressed and linked.</a:t>
            </a:r>
          </a:p>
          <a:p>
            <a:pPr marL="0" indent="0">
              <a:buNone/>
            </a:pPr>
            <a:r>
              <a:rPr lang="en-US" sz="2000">
                <a:latin typeface="Calibri" panose="020F0502020204030204"/>
                <a:ea typeface="Calibri" panose="020F0502020204030204"/>
                <a:cs typeface="Calibri" panose="020F0502020204030204"/>
              </a:rPr>
              <a:t>Detects errors</a:t>
            </a:r>
          </a:p>
          <a:p>
            <a:r>
              <a:rPr lang="en-US" sz="2000">
                <a:latin typeface="Calibri" panose="020F0502020204030204"/>
                <a:ea typeface="Calibri" panose="020F0502020204030204"/>
                <a:cs typeface="Calibri" panose="020F0502020204030204"/>
              </a:rPr>
              <a:t>The OS reports any errors in software or hardware to the user.</a:t>
            </a:r>
          </a:p>
          <a:p>
            <a:r>
              <a:rPr lang="en-US" sz="2000">
                <a:latin typeface="Calibri" panose="020F0502020204030204"/>
                <a:ea typeface="Calibri" panose="020F0502020204030204"/>
                <a:cs typeface="Calibri" panose="020F0502020204030204"/>
              </a:rPr>
              <a:t>Sometimes suggests a possible solution to the error.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77008" y="5228027"/>
            <a:ext cx="1107241" cy="10772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phic 6" descr="Devices">
            <a:extLst>
              <a:ext uri="{FF2B5EF4-FFF2-40B4-BE49-F238E27FC236}">
                <a16:creationId xmlns:a16="http://schemas.microsoft.com/office/drawing/2014/main" id="{95B45D69-C2E4-AF7E-419E-43DA9D0986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09962" y="1929820"/>
            <a:ext cx="4221597" cy="4221597"/>
          </a:xfrm>
          <a:custGeom>
            <a:avLst/>
            <a:gdLst/>
            <a:ahLst/>
            <a:cxnLst/>
            <a:rect l="l" t="t" r="r" b="b"/>
            <a:pathLst>
              <a:path w="4221597" h="4303912">
                <a:moveTo>
                  <a:pt x="126986" y="0"/>
                </a:moveTo>
                <a:lnTo>
                  <a:pt x="4094611" y="0"/>
                </a:lnTo>
                <a:cubicBezTo>
                  <a:pt x="4164743" y="0"/>
                  <a:pt x="4221597" y="56854"/>
                  <a:pt x="4221597" y="126986"/>
                </a:cubicBezTo>
                <a:lnTo>
                  <a:pt x="4221597" y="4176926"/>
                </a:lnTo>
                <a:cubicBezTo>
                  <a:pt x="4221597" y="4247058"/>
                  <a:pt x="4164743" y="4303912"/>
                  <a:pt x="4094611" y="4303912"/>
                </a:cubicBezTo>
                <a:lnTo>
                  <a:pt x="126986" y="4303912"/>
                </a:lnTo>
                <a:cubicBezTo>
                  <a:pt x="56854" y="4303912"/>
                  <a:pt x="0" y="4247058"/>
                  <a:pt x="0" y="4176926"/>
                </a:cubicBezTo>
                <a:lnTo>
                  <a:pt x="0" y="126986"/>
                </a:lnTo>
                <a:cubicBezTo>
                  <a:pt x="0" y="56854"/>
                  <a:pt x="56854" y="0"/>
                  <a:pt x="126986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361319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591A2-61E4-570C-43C2-4F736BA74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latin typeface="Calibri"/>
                <a:ea typeface="Calibri"/>
                <a:cs typeface="Calibri"/>
              </a:rPr>
              <a:t>On a network, it manages </a:t>
            </a:r>
            <a:r>
              <a:rPr lang="en-US">
                <a:latin typeface="Calibri"/>
                <a:ea typeface="Calibri"/>
                <a:cs typeface="Calibri"/>
              </a:rPr>
              <a:t>users</a:t>
            </a:r>
            <a:r>
              <a:rPr lang="en-US" dirty="0">
                <a:latin typeface="Calibri"/>
                <a:ea typeface="Calibri"/>
                <a:cs typeface="Calibri"/>
              </a:rPr>
              <a:t>.</a:t>
            </a:r>
            <a:endParaRPr lang="en-US" dirty="0"/>
          </a:p>
          <a:p>
            <a:r>
              <a:rPr lang="en-US" dirty="0">
                <a:latin typeface="Calibri"/>
                <a:ea typeface="Calibri"/>
                <a:cs typeface="Calibri"/>
              </a:rPr>
              <a:t>Different users of a network will be issued a unique </a:t>
            </a:r>
            <a:r>
              <a:rPr lang="en-US">
                <a:latin typeface="Calibri"/>
                <a:ea typeface="Calibri"/>
                <a:cs typeface="Calibri"/>
              </a:rPr>
              <a:t>username</a:t>
            </a:r>
            <a:r>
              <a:rPr lang="en-US" dirty="0">
                <a:latin typeface="Calibri"/>
                <a:ea typeface="Calibri"/>
                <a:cs typeface="Calibri"/>
              </a:rPr>
              <a:t>.</a:t>
            </a:r>
          </a:p>
          <a:p>
            <a:r>
              <a:rPr lang="en-US" dirty="0">
                <a:latin typeface="Calibri"/>
                <a:ea typeface="Calibri"/>
                <a:cs typeface="Calibri"/>
              </a:rPr>
              <a:t>Users can then create a </a:t>
            </a:r>
            <a:r>
              <a:rPr lang="en-US">
                <a:latin typeface="Calibri"/>
                <a:ea typeface="Calibri"/>
                <a:cs typeface="Calibri"/>
              </a:rPr>
              <a:t>password</a:t>
            </a:r>
            <a:r>
              <a:rPr lang="en-US" dirty="0">
                <a:latin typeface="Calibri"/>
                <a:ea typeface="Calibri"/>
                <a:cs typeface="Calibri"/>
              </a:rPr>
              <a:t>, which is saved by the operating system, and compared with when the user tries to </a:t>
            </a:r>
            <a:r>
              <a:rPr lang="en-US">
                <a:latin typeface="Calibri"/>
                <a:ea typeface="Calibri"/>
                <a:cs typeface="Calibri"/>
              </a:rPr>
              <a:t>log in.</a:t>
            </a:r>
          </a:p>
          <a:p>
            <a:r>
              <a:rPr lang="en-US" dirty="0">
                <a:latin typeface="Calibri"/>
                <a:ea typeface="Calibri"/>
                <a:cs typeface="Calibri"/>
              </a:rPr>
              <a:t>The </a:t>
            </a:r>
            <a:r>
              <a:rPr lang="en-US">
                <a:latin typeface="Calibri"/>
                <a:ea typeface="Calibri"/>
                <a:cs typeface="Calibri"/>
              </a:rPr>
              <a:t>O</a:t>
            </a:r>
            <a:r>
              <a:rPr lang="en-US" dirty="0">
                <a:latin typeface="Calibri"/>
                <a:ea typeface="Calibri"/>
                <a:cs typeface="Calibri"/>
              </a:rPr>
              <a:t>perating </a:t>
            </a:r>
            <a:r>
              <a:rPr lang="en-US">
                <a:latin typeface="Calibri"/>
                <a:ea typeface="Calibri"/>
                <a:cs typeface="Calibri"/>
              </a:rPr>
              <a:t>S</a:t>
            </a:r>
            <a:r>
              <a:rPr lang="en-US" dirty="0">
                <a:latin typeface="Calibri"/>
                <a:ea typeface="Calibri"/>
                <a:cs typeface="Calibri"/>
              </a:rPr>
              <a:t>ystem makes sure that no two users have the same username.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843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16397-A8F2-9731-4F04-D1F0DE748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5154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chemeClr val="accent1"/>
                </a:solidFill>
              </a:rPr>
              <a:t>Exam Practice – 8 Marks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5588C-D0AB-842B-25DB-DADB83141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6709"/>
            <a:ext cx="10515600" cy="49002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u="sng" dirty="0"/>
              <a:t>Scenario:</a:t>
            </a:r>
            <a:r>
              <a:rPr lang="en-GB" sz="2400" b="1" dirty="0"/>
              <a:t> </a:t>
            </a:r>
          </a:p>
          <a:p>
            <a:pPr marL="0" indent="0">
              <a:buNone/>
            </a:pPr>
            <a:r>
              <a:rPr lang="en-GB" sz="2400" dirty="0"/>
              <a:t>Leila works as an IT technician for a small graphic design company. The company uses both Windows and Linux operating systems on different computers.</a:t>
            </a:r>
          </a:p>
          <a:p>
            <a:pPr marL="0" indent="0">
              <a:buNone/>
            </a:pPr>
            <a:r>
              <a:rPr lang="en-GB" sz="2400" dirty="0"/>
              <a:t>Leila has been asked to decide which operating system would be more suitable for a new team of designers who need to run advanced design software, store large files securely, and work efficiently with shared resources such as printers and servers.</a:t>
            </a:r>
          </a:p>
          <a:p>
            <a:pPr marL="0" indent="0">
              <a:buNone/>
            </a:pPr>
            <a:r>
              <a:rPr lang="en-GB" sz="2400" b="1" dirty="0"/>
              <a:t>Task: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7030A0"/>
                </a:solidFill>
              </a:rPr>
              <a:t>Discuss the advantages and disadvantages of Windows and Linux operating systems for this scenario. 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7030A0"/>
                </a:solidFill>
              </a:rPr>
              <a:t>In your answer, explain how the features, interface (GUI/CLI), and performance of each system might affect the designers’ work.</a:t>
            </a:r>
          </a:p>
        </p:txBody>
      </p:sp>
    </p:spTree>
    <p:extLst>
      <p:ext uri="{BB962C8B-B14F-4D97-AF65-F5344CB8AC3E}">
        <p14:creationId xmlns:p14="http://schemas.microsoft.com/office/powerpoint/2010/main" val="2460823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8A05D5-BACE-8A84-94D4-587568221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7200" dirty="0">
                <a:ea typeface="Calibri Light"/>
                <a:cs typeface="Calibri Light"/>
              </a:rPr>
              <a:t>Activity - Homework</a:t>
            </a:r>
            <a:endParaRPr lang="en-US" sz="7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00235-CAFB-5076-4F1A-DD2B558EE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736387"/>
            <a:ext cx="8074815" cy="303347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ea typeface="Calibri"/>
                <a:cs typeface="Calibri"/>
              </a:rPr>
              <a:t>What is the difference between an operating system and an application program? (1 mark)</a:t>
            </a:r>
          </a:p>
          <a:p>
            <a:r>
              <a:rPr lang="en-US" sz="2000" dirty="0">
                <a:ea typeface="Calibri"/>
                <a:cs typeface="Calibri"/>
              </a:rPr>
              <a:t>List 4 things than an operating system controls or manages? (4 marks)</a:t>
            </a:r>
          </a:p>
          <a:p>
            <a:r>
              <a:rPr lang="en-US" sz="2000" dirty="0">
                <a:ea typeface="Calibri"/>
                <a:cs typeface="Calibri"/>
              </a:rPr>
              <a:t>One function of an operating system is to provide a user interface. Explain what a user interface is? (2 marks)</a:t>
            </a:r>
          </a:p>
          <a:p>
            <a:r>
              <a:rPr lang="en-US" sz="2000" dirty="0">
                <a:ea typeface="Calibri"/>
                <a:cs typeface="Calibri"/>
              </a:rPr>
              <a:t>Explain how an operating system </a:t>
            </a:r>
            <a:r>
              <a:rPr lang="en-US" sz="2000" dirty="0" err="1">
                <a:ea typeface="Calibri"/>
                <a:cs typeface="Calibri"/>
              </a:rPr>
              <a:t>organises</a:t>
            </a:r>
            <a:r>
              <a:rPr lang="en-US" sz="2000" dirty="0">
                <a:ea typeface="Calibri"/>
                <a:cs typeface="Calibri"/>
              </a:rPr>
              <a:t> files on a hard drive. (3 marks)</a:t>
            </a:r>
          </a:p>
          <a:p>
            <a:r>
              <a:rPr lang="en-US" sz="2000" dirty="0">
                <a:ea typeface="Calibri"/>
                <a:cs typeface="Calibri"/>
              </a:rPr>
              <a:t>Explain how an operating system uses scheduling to share use of the CPU between processes and application programs. (2 marks)</a:t>
            </a:r>
          </a:p>
        </p:txBody>
      </p:sp>
    </p:spTree>
    <p:extLst>
      <p:ext uri="{BB962C8B-B14F-4D97-AF65-F5344CB8AC3E}">
        <p14:creationId xmlns:p14="http://schemas.microsoft.com/office/powerpoint/2010/main" val="769162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93898FF-D987-4B0E-BFB4-85F5EB356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2F383F-B981-4BC3-9E2B-7BE938CE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240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A485AD-076E-4077-A6E6-C3C9F0C39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088DBDF-80D5-4FC0-8A54-9D660B728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" y="0"/>
            <a:ext cx="12181172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58D235B8-3D10-493F-88AC-84BB404C1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3D black question marks with one yellow question mark">
            <a:extLst>
              <a:ext uri="{FF2B5EF4-FFF2-40B4-BE49-F238E27FC236}">
                <a16:creationId xmlns:a16="http://schemas.microsoft.com/office/drawing/2014/main" id="{9445867A-42C9-9E8C-AA43-34899495EB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60000"/>
          </a:blip>
          <a:srcRect l="29903" r="5179" b="-5"/>
          <a:stretch/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5ECD1B2F-3863-24BB-54A2-BF2C106E1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470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432</TotalTime>
  <Words>838</Words>
  <Application>Microsoft Office PowerPoint</Application>
  <PresentationFormat>Widescreen</PresentationFormat>
  <Paragraphs>74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Century Gothic</vt:lpstr>
      <vt:lpstr>office theme</vt:lpstr>
      <vt:lpstr>Operating Systems</vt:lpstr>
      <vt:lpstr>Learning Objectives</vt:lpstr>
      <vt:lpstr>Answer the following questions</vt:lpstr>
      <vt:lpstr>Solutions</vt:lpstr>
      <vt:lpstr>Apart from the type of hardware, what other differences are there in these devices?</vt:lpstr>
      <vt:lpstr>Name the operating systems you have experienced…</vt:lpstr>
      <vt:lpstr>PowerPoint Presentation</vt:lpstr>
      <vt:lpstr>Why do we need an operating system?</vt:lpstr>
      <vt:lpstr>Activity</vt:lpstr>
      <vt:lpstr>What are the main functions of an OS?</vt:lpstr>
      <vt:lpstr>PowerPoint Presentation</vt:lpstr>
      <vt:lpstr>PowerPoint Presentation</vt:lpstr>
      <vt:lpstr>Exam Practice – 8 Marks</vt:lpstr>
      <vt:lpstr>Activity - Homework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Bhayat, Muryum</dc:creator>
  <cp:lastModifiedBy>Bhayat, Muryum</cp:lastModifiedBy>
  <cp:revision>276</cp:revision>
  <dcterms:created xsi:type="dcterms:W3CDTF">2023-11-07T10:45:55Z</dcterms:created>
  <dcterms:modified xsi:type="dcterms:W3CDTF">2025-10-09T16:26:33Z</dcterms:modified>
</cp:coreProperties>
</file>